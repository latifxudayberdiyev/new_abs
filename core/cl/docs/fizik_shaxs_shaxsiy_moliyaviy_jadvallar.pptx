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38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68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18288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00584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141A47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160020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141A47"/>
          </a:solidFill>
          <a:ln w="19050">
            <a:solidFill>
              <a:srgbClr val="0EA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219456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141A47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Fizik shaxs mijoz kartochkasi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</a:t>
            </a:r>
            <a:r>
              <a:rPr lang="en-US" sz="1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bo'limlari — PL/SQL jadvallar strukturasi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cheklovlar ALTER TABLE orqali alohida qo'shiladi; CL_PHYS_ / CL_R_ prefikslari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Kartochka klienta oynasi (physical-person-banking-v15.html)  ·  22.07.2026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Manba forma → jadvallar xaritasi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«Kartochka klienta» oynasidagi Shaxsiy va Moliyaviy bo'limlarning har bir oynachasi alohida jadvalga mos keladi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394960" cy="457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Shaxsiy bo'lim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066544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66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asosiy ma'lumotlari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1880" y="20116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CL_PHYS_PERSONS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670048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70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6151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ShTH ma'lumotlari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11880" y="261518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CL_PHYS_DOCUMENTS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273552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2186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ma'lumotlari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32186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CL_PHYS_ADDRESSES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877056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77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822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 ma'lumotlari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11880" y="3822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CL_PHYS_CONTACTS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48056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80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4256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ma'lumotlari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11880" y="442569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CL_PHYS_BANK_DETAILS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166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spravochnik-tipdagi ustunlar (davlat, viloyat, millat, filial va h.k.) qatordagi jadvallardan FK orqali olinadi — keyingi slaydga qarang.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132588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325880"/>
            <a:ext cx="5394960" cy="45720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1325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Moliyaviy bo'lim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537960" y="2066544"/>
            <a:ext cx="256032" cy="256032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2066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Daromad ma'lumotlari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73836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CL_PHYS_FIN_SUMMARIES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37960" y="2752344"/>
            <a:ext cx="256032" cy="256032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752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joylari (1..N)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73836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CL_PHYS_WORKPLACES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37960" y="3438144"/>
            <a:ext cx="256032" cy="256032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3438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daromad manbalari (1..N)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73836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CL_PHYS_EXTRA_INCOMES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92240" y="4434840"/>
            <a:ext cx="5029200" cy="1600200"/>
          </a:xfrm>
          <a:prstGeom prst="roundRect">
            <a:avLst>
              <a:gd name="adj" fmla="val 3429"/>
            </a:avLst>
          </a:prstGeom>
          <a:solidFill>
            <a:srgbClr val="F1EAFB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4572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(v4):  </a:t>
            </a: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PK/FK/UNIQUE/CHECK cheklovlari endi CREATE TABLE ichida emas, alohida ALTER TABLE ... ADD CONSTRAINT operatorlari orqali qo'shiladi; jadval/cheklov nomlash CL_PHYS_ / CL_R_ va &lt;JADVAL&gt;_PK/_F#/_U#/_C# standartida.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Fizik shaxs mijoz kartochkasi — Shaxsiy va Moliyaviy bo'limlar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Spravochnik jadvallari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Ro'yxat-tipidagi (nomenklatura) ma'lumotlar alohida jadvalga chiqarildi — asosiy jadvallar faqat kodni (FK) saqlaydi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92840" cy="507491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Jadval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Nima uchun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ustunlar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CL_R_COUNTRIES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Davlatlar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COUNTRY_CODE (PK), COUNTRY_NAME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CL_R_REGIONS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Viloyat/shahar (→ Davlat)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REGION_CODE (PK), REGION_NAME, COUNTRY_CODE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CL_R_DISTRICTS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Tuman/shahar (→ Viloyat)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DISTRICT_CODE (PK), DISTRICT_NAME, REGION_CODE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CL_R_NATIONALITIES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Millatlar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NATIONALITY_CODE (PK), NATIONALITY_NAME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CL_R_DOCUMENT_TYPES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ShTH turlari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DOC_TYPE_CD (PK), DOC_TYPE_NAME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CL_R_BRANCHES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filiallari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BRANCH_CODE (PK), BRANCH_NAME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CL_R_SALES_POINTS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Savdo nuqtalari (→ Filial)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SALES_POINT_CODE (PK), SALES_POINT_NAME, BRANCH_CODE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CL_R_ORG_FORMS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Tashkilot shakli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ORG_FORM_CD (PK), ORG_FORM_NAME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CL_R_INCOME_SOURCES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Qo'shimcha daromad manbai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INCOME_SOURCE_CD (PK), INCOME_SOURCE_NAME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CL_R_SEGMENTS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Mijoz segmentlari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SEGMENT_CODE (PK), SEGMENT_NAME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CL_R_SUB_SEGMENTS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Quyi segmentlar (→ Segment)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SUB_SEGMENT_CD (PK), SUB_SEGMENT_NAME, SEGMENT_CODE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CL_R_SENIORITY_RANGES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 staji oraliqlari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SENIORITY_CD (PK), SENIORITY_NAME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Fizik shaxs mijoz kartochkasi — Shaxsiy va Moliyaviy bo'limlar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Umumiy ER-diagramma — asosiy jadvallar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tranzaksion jadval CL_PHYS_PERSONS ga bog'langan; spravochnik jadvallariga bog'lanish 5-slaydda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09160" y="3232528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09160" y="3232528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3387976"/>
            <a:ext cx="2743200" cy="1554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82312" y="323252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CL_PHYS_PERSONS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82312" y="3561712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asosiy ma'lumotlari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CLIENT_ID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220848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20848"/>
            <a:ext cx="2514600" cy="310896"/>
          </a:xfrm>
          <a:prstGeom prst="roundRect">
            <a:avLst>
              <a:gd name="adj" fmla="val 20588"/>
            </a:avLst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376296"/>
            <a:ext cx="2514600" cy="1554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22084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CL_PHYS_DOCUMENTS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15500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ShTH ma'lumotlari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mijoz : N hujjat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80360" y="1678048"/>
            <a:ext cx="1828800" cy="208026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" y="2318128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18128"/>
            <a:ext cx="2514600" cy="310896"/>
          </a:xfrm>
          <a:prstGeom prst="roundRect">
            <a:avLst>
              <a:gd name="adj" fmla="val 20588"/>
            </a:avLst>
          </a:prstGeom>
          <a:solidFill>
            <a:srgbClr val="D9A441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473576"/>
            <a:ext cx="2514600" cy="1554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31812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CL_PHYS_ADDRESSES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264731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ma'lumotlari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mijoz : 3 manzil turi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80360" y="2775328"/>
            <a:ext cx="1828800" cy="98298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5760" y="3598288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98288"/>
            <a:ext cx="2514600" cy="310896"/>
          </a:xfrm>
          <a:prstGeom prst="roundRect">
            <a:avLst>
              <a:gd name="adj" fmla="val 20588"/>
            </a:avLst>
          </a:prstGeom>
          <a:solidFill>
            <a:srgbClr val="D9A441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753736"/>
            <a:ext cx="2514600" cy="1554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59828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CL_PHYS_CONTACTS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" y="392747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 ma'lumotlari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mijoz : 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 flipV="1">
            <a:off x="2880360" y="3758308"/>
            <a:ext cx="1828800" cy="29718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5760" y="4695568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695568"/>
            <a:ext cx="2514600" cy="310896"/>
          </a:xfrm>
          <a:prstGeom prst="roundRect">
            <a:avLst>
              <a:gd name="adj" fmla="val 20588"/>
            </a:avLst>
          </a:prstGeom>
          <a:solidFill>
            <a:srgbClr val="D9A441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4851016"/>
            <a:ext cx="2514600" cy="1554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469556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CL_PHYS_BANK_DETAILS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8912" y="502475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ma'lumotlari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mijoz : 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 flipV="1">
            <a:off x="2880360" y="3758308"/>
            <a:ext cx="1828800" cy="139446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52560" y="1586608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0EA5A0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52560" y="1586608"/>
            <a:ext cx="2606040" cy="310896"/>
          </a:xfrm>
          <a:prstGeom prst="roundRect">
            <a:avLst>
              <a:gd name="adj" fmla="val 20588"/>
            </a:avLst>
          </a:prstGeom>
          <a:solidFill>
            <a:srgbClr val="0EA5A0"/>
          </a:solidFill>
          <a:ln/>
        </p:spPr>
      </p:sp>
      <p:sp>
        <p:nvSpPr>
          <p:cNvPr id="35" name="Shape 33"/>
          <p:cNvSpPr/>
          <p:nvPr/>
        </p:nvSpPr>
        <p:spPr>
          <a:xfrm>
            <a:off x="9052560" y="1742056"/>
            <a:ext cx="2606040" cy="155448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36" name="Text 34"/>
          <p:cNvSpPr/>
          <p:nvPr/>
        </p:nvSpPr>
        <p:spPr>
          <a:xfrm>
            <a:off x="9125712" y="1586608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CL_PHYS_FIN_SUMMARIES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25712" y="1915792"/>
            <a:ext cx="24597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/ Daromad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mijoz : 1 (joriy)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 flipV="1">
            <a:off x="7452360" y="2043808"/>
            <a:ext cx="1600200" cy="1714500"/>
          </a:xfrm>
          <a:prstGeom prst="line">
            <a:avLst/>
          </a:prstGeom>
          <a:noFill/>
          <a:ln w="19050">
            <a:solidFill>
              <a:srgbClr val="0EA5A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052560" y="2958208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0EA5A0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52560" y="2958208"/>
            <a:ext cx="2606040" cy="310896"/>
          </a:xfrm>
          <a:prstGeom prst="roundRect">
            <a:avLst>
              <a:gd name="adj" fmla="val 20588"/>
            </a:avLst>
          </a:prstGeom>
          <a:solidFill>
            <a:srgbClr val="0EA5A0"/>
          </a:solidFill>
          <a:ln/>
        </p:spPr>
      </p:sp>
      <p:sp>
        <p:nvSpPr>
          <p:cNvPr id="41" name="Shape 39"/>
          <p:cNvSpPr/>
          <p:nvPr/>
        </p:nvSpPr>
        <p:spPr>
          <a:xfrm>
            <a:off x="9052560" y="3113656"/>
            <a:ext cx="2606040" cy="155448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42" name="Text 40"/>
          <p:cNvSpPr/>
          <p:nvPr/>
        </p:nvSpPr>
        <p:spPr>
          <a:xfrm>
            <a:off x="9125712" y="2958208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CL_PHYS_WORKPLACES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125712" y="3287392"/>
            <a:ext cx="24597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joylari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mijoz : 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V="1">
            <a:off x="7452360" y="3415408"/>
            <a:ext cx="1600200" cy="342900"/>
          </a:xfrm>
          <a:prstGeom prst="line">
            <a:avLst/>
          </a:prstGeom>
          <a:noFill/>
          <a:ln w="19050">
            <a:solidFill>
              <a:srgbClr val="0EA5A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052560" y="4329808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0EA5A0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052560" y="4329808"/>
            <a:ext cx="2606040" cy="310896"/>
          </a:xfrm>
          <a:prstGeom prst="roundRect">
            <a:avLst>
              <a:gd name="adj" fmla="val 20588"/>
            </a:avLst>
          </a:prstGeom>
          <a:solidFill>
            <a:srgbClr val="0EA5A0"/>
          </a:solidFill>
          <a:ln/>
        </p:spPr>
      </p:sp>
      <p:sp>
        <p:nvSpPr>
          <p:cNvPr id="47" name="Shape 45"/>
          <p:cNvSpPr/>
          <p:nvPr/>
        </p:nvSpPr>
        <p:spPr>
          <a:xfrm>
            <a:off x="9052560" y="4485256"/>
            <a:ext cx="2606040" cy="155448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48" name="Text 46"/>
          <p:cNvSpPr/>
          <p:nvPr/>
        </p:nvSpPr>
        <p:spPr>
          <a:xfrm>
            <a:off x="9125712" y="4329808"/>
            <a:ext cx="2459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CL_PHYS_EXTRA_INCOMES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125712" y="4658992"/>
            <a:ext cx="24597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daromad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mijoz : 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452360" y="3758308"/>
            <a:ext cx="1600200" cy="1028700"/>
          </a:xfrm>
          <a:prstGeom prst="line">
            <a:avLst/>
          </a:prstGeom>
          <a:noFill/>
          <a:ln w="19050">
            <a:solidFill>
              <a:srgbClr val="0EA5A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 </a:t>
            </a: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bo'lim jadvallari    </a:t>
            </a:r>
            <a:r>
              <a:rPr lang="en-US" sz="115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bo'lim jadvallari    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CLIENT_ID (ON DELETE CASCADE)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Fizik shaxs mijoz kartochkasi — Shaxsiy va Moliyaviy bo'limlar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CL_PHYS_PERSONS — markaziy (asosiy) jadval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«Mijoz asosiy ma'lumotlari» oynachasi + «Tashqi manbaa» (DPM) bloki — har bir ma'lumot alohida atomik ustunda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92840" cy="51206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(PK)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NUMBER(19)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Mijozning ichki unikal identifikatori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CLIENT_CODE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Mijoz kodi (masalan 700241)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EXTERNAL_SOURCE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VARCHAR2(50)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Tashqi manba nomi (DPM)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PINFL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VARCHAR2(14)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JShShIR (ПИНФЛ)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LAST_NAME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Familiya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FIRST_NAME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Ism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PATRONYMIC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Otasining ismi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PHYSICAL_STATUS_CD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1-Tirik, 2-Vafot etgan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BIRTH_DATE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Tug'ilgan sana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BIRTH_PLACE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Tug'ilgan joyi (erkin matn)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BIRTH_COUNTRY_CODE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VARCHAR2(5)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CL_R_COUNTRIES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CITIZENSHIP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Fuqaroligi (erkin matn)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NATIONALITY_CODE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VARCHAR2(5)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CL_R_NATIONALITIES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GENDER_CD / RESIDENT_FLAG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CHAR(1)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Jinsi (M/F), rezidentlik (Y/N)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SECRET_WORD_ENC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Maxfiy so'z (shifrlangan)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SEGMENT_CODE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CL_R_SEGMENTS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SUB_SEGMENT_CD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CL_R_SUB_SEGMENTS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CLIENT_STATUS_CD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BANK_CLIENT / POTENTIAL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 / BY / UPDATED_AT / BY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DATE/VARCHAR2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ustunlari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Fizik shaxs mijoz kartochkasi — Shaxsiy va Moliyaviy bo'limlar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Shaxsiy bo'lim — bog'liq jadvallar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CL_PHYS_DOCUMENTS · CL_PHYS_ADDRESSES · CL_PHYS_CONTACTS · CL_PHYS_BANK_DETAILS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9768" y="1188720"/>
            <a:ext cx="2628900" cy="512064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188720"/>
            <a:ext cx="2628900" cy="457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188720"/>
            <a:ext cx="2446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CL_PHYS_DOCUMENTS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" y="1673352"/>
            <a:ext cx="24094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ShTH ma'lumotlari, 1:N</a:t>
            </a:r>
            <a:endParaRPr lang="en-US" sz="88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2212848"/>
          <a:ext cx="2409444" cy="39776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DOCUMENT_ID (PK)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Hujjat 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CL_PHYS_PERSONS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DOC_TYPE_CD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CL_R_DOCUMENT_TYPES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DOC_SERIES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Seriya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DOC_NUMBER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Raqam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ISSUE_DATE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Berilgan sana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EXPIRY_DATE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Amal muddati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ISSUED_BY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 tomonidan berilgan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IS_CURRENT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Joriy hujjat (Y/N)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SAVED_AT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Bazaga saqlangan sana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332988" y="1188720"/>
            <a:ext cx="2628900" cy="512064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2988" y="1188720"/>
            <a:ext cx="2628900" cy="457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3424428" y="1188720"/>
            <a:ext cx="2446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CL_PHYS_ADDRESSES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42716" y="1673352"/>
            <a:ext cx="24094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ma'lumotlari, 1:3</a:t>
            </a:r>
            <a:endParaRPr lang="en-US" sz="88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42716" y="2212848"/>
          <a:ext cx="2409444" cy="39776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ADDRESS_ID (PK)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Manzil 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CL_PHYS_PERSONS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ADDRESS_TYPE_CD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LEGAL_PERM/TEMP/ACTUAL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COUNTRY_CODE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CL_R_COUNTRIES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REGION_CODE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CL_R_REGIONS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DISTRICT_CODE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CL_R_DISTRICTS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MAHALLA_NAME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Mahalla (erkin matn)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STREET_NAME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Ko'cha (erkin matn)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HOUSE_NO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 raqami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FULL_ADDRESS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To'liq manzil (matn)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236208" y="1188720"/>
            <a:ext cx="2628900" cy="512064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36208" y="1188720"/>
            <a:ext cx="2628900" cy="457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6" name="Text 12"/>
          <p:cNvSpPr/>
          <p:nvPr/>
        </p:nvSpPr>
        <p:spPr>
          <a:xfrm>
            <a:off x="6327648" y="1188720"/>
            <a:ext cx="2446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CL_PHYS_CONTACTS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45936" y="1673352"/>
            <a:ext cx="24094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 ma'lumotlari, 1:1</a:t>
            </a:r>
            <a:endParaRPr lang="en-US" sz="88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2212848"/>
          <a:ext cx="2409444" cy="39776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CONTACT_ID (PK)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Kontakt 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(FK, UQ)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CL_PHYS_PERSONS, 1:1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MOBILE_PHONE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 telefon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WORK_PHONE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 telefoni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HOME_PHONE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 telefoni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Elektron pochta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9139428" y="1188720"/>
            <a:ext cx="2628900" cy="512064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39428" y="1188720"/>
            <a:ext cx="2628900" cy="457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1" name="Text 16"/>
          <p:cNvSpPr/>
          <p:nvPr/>
        </p:nvSpPr>
        <p:spPr>
          <a:xfrm>
            <a:off x="9230868" y="1188720"/>
            <a:ext cx="2446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CL_PHYS_BANK_DETAILS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249156" y="1673352"/>
            <a:ext cx="24094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ma'lumotlari, 1:1</a:t>
            </a:r>
            <a:endParaRPr lang="en-US" sz="88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49156" y="2212848"/>
          <a:ext cx="2409444" cy="39776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BANK_DETAIL_ID (PK)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Yozuv 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(FK, UQ)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CL_PHYS_PERSONS, 1:1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BRANCH_CODE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CL_R_BRANCHES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SALES_POINT_CODE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CL_R_SALES_POINTS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ATTRACT_EMP_CODE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Jalb qilgan xodim kodi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ATTRACT_EMP_FIO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Jalb qilgan xodim F.I.Sh.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Fizik shaxs mijoz kartochkasi — Shaxsiy va Moliyaviy bo'limlar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Moliyaviy bo'lim — bog'liq jadvallar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CL_PHYS_FIN_SUMMARIES · CL_PHYS_WORKPLACES · CL_PHYS_EXTRA_INCOMES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9768" y="1188720"/>
            <a:ext cx="3596640" cy="5120640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188720"/>
            <a:ext cx="3596640" cy="45720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188720"/>
            <a:ext cx="341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CL_PHYS_FIN_SUMMARIES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" y="1673352"/>
            <a:ext cx="33771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Daromad ma'lumotlari, 1:1 (joriy)</a:t>
            </a:r>
            <a:endParaRPr lang="en-US" sz="88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2212848"/>
          <a:ext cx="3377184" cy="3977640"/>
        </p:xfrm>
        <a:graphic>
          <a:graphicData uri="http://schemas.openxmlformats.org/drawingml/2006/table">
            <a:tbl>
              <a:tblPr/>
              <a:tblGrid>
                <a:gridCol w="1438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FIN_SUMMARY_ID (PK)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Yozuv 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CL_PHYS_PERSONS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MONTHLY_SALARY_AMT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Oylik maosh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SALARY_RECEIVE_METHOD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/ CASH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ADDITIONAL_INCOME_AMT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Qo'shimcha daromad yig'.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TOTAL_INCOME_AMT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daromad (virtual)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DTI_PERCENT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Kredit yuki, 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CREDIT_SCORE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Kredit reytingi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CALC_DATE / IS_CURRENT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Hisoblangan sana / joriylik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300728" y="1188720"/>
            <a:ext cx="3596640" cy="5120640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00728" y="1188720"/>
            <a:ext cx="3596640" cy="45720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1" name="Text 8"/>
          <p:cNvSpPr/>
          <p:nvPr/>
        </p:nvSpPr>
        <p:spPr>
          <a:xfrm>
            <a:off x="4392168" y="1188720"/>
            <a:ext cx="341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CL_PHYS_WORKPLACES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10456" y="1673352"/>
            <a:ext cx="33771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joylari, 1:N</a:t>
            </a:r>
            <a:endParaRPr lang="en-US" sz="88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10456" y="2212848"/>
          <a:ext cx="3377184" cy="3977640"/>
        </p:xfrm>
        <a:graphic>
          <a:graphicData uri="http://schemas.openxmlformats.org/drawingml/2006/table">
            <a:tbl>
              <a:tblPr/>
              <a:tblGrid>
                <a:gridCol w="1438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WORKPLACE_ID (PK)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 joyi 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CL_PHYS_PERSONS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ORG_NAME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Tashkilot nomi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Bo'lim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POSITION_NAME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Lavozim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STIR (9 raqam)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SENIORITY_CD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CL_R_SENIORITY_RANGES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ORG_FORM_CD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CL_R_ORG_FORMS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IS_PRIMARY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ish joyi (Y/N)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8171688" y="1188720"/>
            <a:ext cx="3596640" cy="5120640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1688" y="1188720"/>
            <a:ext cx="3596640" cy="45720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6" name="Text 12"/>
          <p:cNvSpPr/>
          <p:nvPr/>
        </p:nvSpPr>
        <p:spPr>
          <a:xfrm>
            <a:off x="8263128" y="1188720"/>
            <a:ext cx="341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CL_PHYS_EXTRA_INCOMES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81416" y="1673352"/>
            <a:ext cx="33771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daromad manbalari, 1:N</a:t>
            </a:r>
            <a:endParaRPr lang="en-US" sz="88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81416" y="2212848"/>
          <a:ext cx="3377184" cy="3977640"/>
        </p:xfrm>
        <a:graphic>
          <a:graphicData uri="http://schemas.openxmlformats.org/drawingml/2006/table">
            <a:tbl>
              <a:tblPr/>
              <a:tblGrid>
                <a:gridCol w="1438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EXTRA_INCOME_ID (PK)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Yozuv 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CL_PHYS_PERSONS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INCOME_SOURCE_CD (FK)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CL_R_INCOME_SOURCES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AVG_MONTHLY_AMT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O'rtacha oylik miqdor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COMMENT_TXT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 / CREATED_BY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ustunlari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Fizik shaxs mijoz kartochkasi — Shaxsiy va Moliyaviy bo'limlar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Jadvallar orasidagi bog'lanishlar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Tranzaksion jadvallar (CL_PHYS_PERSONS ga) va spravochnik jadvallariga (nomenklatura ustunlariga) bog'lanishlar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3657600" cy="4434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 jadval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Bog'liq jadval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Kardinallik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CL_PHYS_ADDRESSES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CL_PHYS_CONTACTS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CL_PHYS_BANK_DETAILS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CL_PHYS_FIN_SUMMARIES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 (joriy)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CL_PHYS_WORKPLACES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CL_PHYS_EXTRA_INCOMES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143000"/>
          <a:ext cx="7360920" cy="443484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Jadval / ustun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Spravochnik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CL_PHYS_PERSONS.BIRTH_COUNTRY_CODE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CL_R_COUNTRIES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CL_PHYS_PERSONS.NATIONALITY_CODE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CL_R_NATIONALITIES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CL_PHYS_PERSONS.SEGMENT_CODE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CL_R_SEGMENTS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CL_PHYS_PERSONS.SUB_SEGMENT_CD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CL_R_SUB_SEGMENTS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CL_PHYS_DOCUMENTS.DOC_TYPE_CD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CL_R_DOCUMENT_TYPES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CL_PHYS_ADDRESSES.COUNTRY_CODE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CL_R_COUNTRIES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CL_PHYS_ADDRESSES.REGION_CODE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CL_R_REGIONS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CL_PHYS_ADDRESSES.DISTRICT_CODE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CL_R_DISTRICTS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CL_PHYS_BANK_DETAILS.BRANCH_CODE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CL_R_BRANCHES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CL_PHYS_BANK_DETAILS.SALES_POINT_CODE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CL_R_SALES_POINTS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CL_PHYS_WORKPLACES.ORG_FORM_CD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CL_R_ORG_FORMS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CL_PHYS_WORKPLACES.SENIORITY_CD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CL_R_SENIORITY_RANGES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CL_PHYS_EXTRA_INCOMES.INCOME_SOURCE_CD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CL_R_INCOME_SOURCES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715000"/>
            <a:ext cx="11292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5715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Izoh:  </a:t>
            </a: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CL_PHYS_PERSONS o'chirilganda tranzaksion jadvallardagi yozuvlar ON DELETE CASCADE bilan o'chadi; spravochnik jadvallari CASCADE bilan bog'lanmagan va mustaqil boshqariladi.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Fizik shaxs mijoz kartochkasi — Shaxsiy va Moliyaviy bo'limlar</a:t>
            </a:r>
            <a:endParaRPr lang="en-US" sz="900" dirty="0"/>
          </a:p>
        </p:txBody>
      </p:sp>
      <p:sp>
        <p:nvSpPr>
          <p:cNvPr id="4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4864" cy="8229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 jadval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tranzaksion (Shaxsiy — 5, Moliyaviy — 3) + 12 ta spravochnik jadval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54864" cy="82296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Ko'plik nomlanish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jadval nomlari inglizcha ko'plik shaklida: CL_PHYS_PERSONS, CL_PHYS_DOCUMENTS, CL_PHYS_ADDRESSES va h.k.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54864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4670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Atomik ustunlar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37124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ma'lumot (F.I.Sh., sana, kod) mustaqil ustunda saqlanadi — bitta ustunda bir nechta qiymat yo'q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54864" cy="82296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34256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Normallashtirilgan spravochniklar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47000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Davlat/Viloyat/Tuman/Millat/Filial/Tochka prodaj/Tashkilot shakli/Daromad manbai/Segment/Ish staji — 12 alohida jadvalda, FK orqali bog'langan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21808"/>
            <a:ext cx="54864" cy="8229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2180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hujjatlashtirilgan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5687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jadval va ustunda COMMENT ON TABLE / COMMENT ON COLUMN, CHECK/UNIQUE cheklovlar, indekslar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Fayl: physical_person_tables.sql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2186</Words>
  <Application>Microsoft Office PowerPoint</Application>
  <PresentationFormat>Широкоэкранный</PresentationFormat>
  <Paragraphs>399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Latif X. Xudayberdiev</cp:lastModifiedBy>
  <cp:revision>2</cp:revision>
  <dcterms:created xsi:type="dcterms:W3CDTF">2026-07-23T07:31:54Z</dcterms:created>
  <dcterms:modified xsi:type="dcterms:W3CDTF">2026-07-23T07:40:49Z</dcterms:modified>
</cp:coreProperties>
</file>