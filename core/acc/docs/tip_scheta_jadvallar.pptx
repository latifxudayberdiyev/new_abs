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389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9882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18288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00584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141A47"/>
          </a:solidFill>
          <a:ln w="19050">
            <a:solidFill>
              <a:srgbClr val="D9A44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1600200"/>
            <a:ext cx="2377440" cy="457200"/>
          </a:xfrm>
          <a:prstGeom prst="roundRect">
            <a:avLst>
              <a:gd name="adj" fmla="val 14000"/>
            </a:avLst>
          </a:prstGeom>
          <a:solidFill>
            <a:srgbClr val="141A47"/>
          </a:solidFill>
          <a:ln w="19050">
            <a:solidFill>
              <a:srgbClr val="0EA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0" y="2194560"/>
            <a:ext cx="2103120" cy="457200"/>
          </a:xfrm>
          <a:prstGeom prst="roundRect">
            <a:avLst>
              <a:gd name="adj" fmla="val 14000"/>
            </a:avLst>
          </a:prstGeom>
          <a:solidFill>
            <a:srgbClr val="141A47"/>
          </a:solidFill>
          <a:ln w="19050">
            <a:solidFill>
              <a:srgbClr val="7C5C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02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Fabrika produktov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8686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"Тип счёта" spravochnigi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2461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Ma'lumotlar bazasi </a:t>
            </a:r>
            <a:r>
              <a:rPr lang="en-US" sz="2000" b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jadvallari strukturasi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0080" y="37947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 jadval</a:t>
            </a: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 spravochnik (ACC_R_) + 3 asosiy (ACC_) jadval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1264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fabrika-produktov.html — "Тип счёта" ro'yxati, dochernie zapisi va tarix oynalari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Manba forma → jadvallar xaritasi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"Тип счёта" oynasi uchta qatlamdan iborat: ro'yxat, ochiladigan dochernie zapisi, o'zgarishlar tarixi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9284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19072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"Тип счёта" ro'yxati (asosiy jadval)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680960" y="164592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ACC_ACCOUNT_TYPES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77240" y="2432304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432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2359152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Qatorni ochganda: Тип клиента / Коды COA / Валюта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0" y="2359152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ACC_ACCOUNT_TYPE_CLIENTS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145536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455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3072384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"История изменений" oynasi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80960" y="3072384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ACC_ACCOUNT_TYPE_HISTORY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3858768"/>
            <a:ext cx="274320" cy="274320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587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785616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"Модуль" tanlov ro'yxati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680960" y="3785616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ACC_R_MODULES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77240" y="4572000"/>
            <a:ext cx="274320" cy="274320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72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4498848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"Типы счетов — справочник" oynasi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80960" y="4498848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ACC_R_CLASS_CATALOG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777240" y="5285232"/>
            <a:ext cx="274320" cy="274320"/>
          </a:xfrm>
          <a:prstGeom prst="ellipse">
            <a:avLst/>
          </a:prstGeom>
          <a:solidFill>
            <a:srgbClr val="7C5CBF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2852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5212080"/>
            <a:ext cx="6309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Sinf ↔ Modul bog'lanishi (N:N)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680960" y="521208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ACC_R_CLASS_CATALOG_MODULES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85800" y="5729830"/>
            <a:ext cx="10835640" cy="0"/>
          </a:xfrm>
          <a:prstGeom prst="line">
            <a:avLst/>
          </a:prstGeom>
          <a:noFill/>
          <a:ln w="12700">
            <a:solidFill>
              <a:srgbClr val="E1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774305"/>
            <a:ext cx="10835640" cy="484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Asosiy (ACC_) jadvallar — mijozning "Тип счёта" ma'lumotlari    </a:t>
            </a:r>
            <a:r>
              <a:rPr lang="en-US" sz="12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2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Spravochnik (ACC_R_) jadvallar — nomenklatura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Fabrika produktov — "Тип счёта" jadvallari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Spravochnik jadvallari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Nomenklatura xarakteridagi ma'lumotlar — prefiks ACC_R_</a:t>
            </a:r>
            <a:endParaRPr lang="en-US" sz="12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92840" cy="219456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Jadval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Nima uchun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Asosiy ustunlar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5C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ACC_R_MODULES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moduli spravochnigi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MODULE_CODE (PK), MODULE_NAME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ACC_R_CLASS_CATALOG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"Типы счетов — справочник" oynasi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CATALOG_ID (PK), CLASS_CODE, RANGE_FROM, RANGE_TO, CATALOG_NAME, CATALOG_DESC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6202E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ACC_R_CLASS_CATALOG_MODULES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Sinf ↔ Modul bog'lanishi (N:N)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CATALOG_ID (PK,FK), MODULE_CODE (PK,FK)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3703320"/>
            <a:ext cx="11292840" cy="2514600"/>
          </a:xfrm>
          <a:prstGeom prst="roundRect">
            <a:avLst>
              <a:gd name="adj" fmla="val 2909"/>
            </a:avLst>
          </a:prstGeom>
          <a:solidFill>
            <a:srgbClr val="F1EAFB"/>
          </a:solidFill>
          <a:ln w="12700">
            <a:solidFill>
              <a:srgbClr val="7C5CB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38404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Diqqat qilinadigan jihatlar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85800" y="4251960"/>
            <a:ext cx="10835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ACC_R_CLASS_CATALOG — "Типы счетов" formasidagi namunaviy hisob sinflari (1-9), "Тип счёта" yozuvlariga bog'lanmagan, faqat ma'lumotnoma sifatida.
</a:t>
            </a: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"Обычно используется в модулях" ustunidagi (masalan "CARD, DEP") vergul bilan ajratilgan ro'yxat ko'p-ko'pga (N:N) jadvalga — ACC_R_CLASS_CATALOG_MODULES ga chiqarildi.
</a:t>
            </a:r>
            <a:r>
              <a:rPr lang="en-US" sz="1200" b="1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ACC_R_MODULES — ACC_ACCOUNT_TYPES.MODULE_CODE ustuniga FK orqali bog'lanadi ("Модуль" tanlov ro'yxati).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Fabrika produktov — "Тип счёта" jadvallari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Umumiy ER-diagramma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ACC_ACCOUNT_TYPES markaziy jadval, unga dochernie va tarix jadvallari, spravochnikka esa modul orqali bog'lanadi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709160" y="2651760"/>
            <a:ext cx="27432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25400">
            <a:solidFill>
              <a:srgbClr val="1E2761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09160" y="2651760"/>
            <a:ext cx="2743200" cy="310896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709160" y="2807208"/>
            <a:ext cx="2743200" cy="1554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782312" y="2651760"/>
            <a:ext cx="2596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ACC_ACCOUNT_TYPES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82312" y="2980944"/>
            <a:ext cx="259689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"Тип счёта" ro'yxati (ota yozuv)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PK: ACCOUNT_TYPE_ID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26517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7C5CBF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834640"/>
            <a:ext cx="2651760" cy="310896"/>
          </a:xfrm>
          <a:prstGeom prst="roundRect">
            <a:avLst>
              <a:gd name="adj" fmla="val 20588"/>
            </a:avLst>
          </a:prstGeom>
          <a:solidFill>
            <a:srgbClr val="7C5CBF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990088"/>
            <a:ext cx="2651760" cy="155448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834640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ACC_R_MODULES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3163824"/>
            <a:ext cx="250545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spravochnigi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modul : N hisob turi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 flipV="1">
            <a:off x="3108960" y="3246120"/>
            <a:ext cx="1600200" cy="22860"/>
          </a:xfrm>
          <a:prstGeom prst="line">
            <a:avLst/>
          </a:prstGeom>
          <a:noFill/>
          <a:ln w="19050">
            <a:solidFill>
              <a:srgbClr val="7C5CBF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052560" y="137160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D9A441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052560" y="1371600"/>
            <a:ext cx="2651760" cy="310896"/>
          </a:xfrm>
          <a:prstGeom prst="roundRect">
            <a:avLst>
              <a:gd name="adj" fmla="val 20588"/>
            </a:avLst>
          </a:prstGeom>
          <a:solidFill>
            <a:srgbClr val="D9A441"/>
          </a:solidFill>
          <a:ln/>
        </p:spPr>
      </p:sp>
      <p:sp>
        <p:nvSpPr>
          <p:cNvPr id="17" name="Shape 15"/>
          <p:cNvSpPr/>
          <p:nvPr/>
        </p:nvSpPr>
        <p:spPr>
          <a:xfrm>
            <a:off x="9052560" y="1527048"/>
            <a:ext cx="2651760" cy="1554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8" name="Text 16"/>
          <p:cNvSpPr/>
          <p:nvPr/>
        </p:nvSpPr>
        <p:spPr>
          <a:xfrm>
            <a:off x="9125712" y="1371600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ACC_ACCOUNT_TYPE_CLIENTS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125712" y="170078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клиента / Коды COA / Валюта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V="1">
            <a:off x="7452360" y="1828800"/>
            <a:ext cx="1600200" cy="1239012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9052560" y="3657600"/>
            <a:ext cx="26517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D9A441"/>
            </a:solidFill>
            <a:prstDash val="solid"/>
          </a:ln>
          <a:effectLst>
            <a:outerShdw blurRad="63500" dist="25400" dir="5400000" algn="bl" rotWithShape="0">
              <a:srgbClr val="16202E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52560" y="3657600"/>
            <a:ext cx="2651760" cy="310896"/>
          </a:xfrm>
          <a:prstGeom prst="roundRect">
            <a:avLst>
              <a:gd name="adj" fmla="val 20588"/>
            </a:avLst>
          </a:prstGeom>
          <a:solidFill>
            <a:srgbClr val="D9A441"/>
          </a:solidFill>
          <a:ln/>
        </p:spPr>
      </p:sp>
      <p:sp>
        <p:nvSpPr>
          <p:cNvPr id="23" name="Shape 21"/>
          <p:cNvSpPr/>
          <p:nvPr/>
        </p:nvSpPr>
        <p:spPr>
          <a:xfrm>
            <a:off x="9052560" y="3813048"/>
            <a:ext cx="2651760" cy="155448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24" name="Text 22"/>
          <p:cNvSpPr/>
          <p:nvPr/>
        </p:nvSpPr>
        <p:spPr>
          <a:xfrm>
            <a:off x="9125712" y="3657600"/>
            <a:ext cx="250545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ACC_ACCOUNT_TYPE_HISTORY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125712" y="3986784"/>
            <a:ext cx="250545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O'zgarishlar jurnali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35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52360" y="3543300"/>
            <a:ext cx="1600200" cy="571500"/>
          </a:xfrm>
          <a:prstGeom prst="line">
            <a:avLst/>
          </a:prstGeom>
          <a:noFill/>
          <a:ln w="19050">
            <a:solidFill>
              <a:srgbClr val="D9A44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5760" y="5806440"/>
            <a:ext cx="114300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●  </a:t>
            </a: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 jadvallari    </a:t>
            </a:r>
            <a:r>
              <a:rPr lang="en-US" sz="1150" b="1" dirty="0">
                <a:solidFill>
                  <a:srgbClr val="7C5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ACC_R_ spravochnigi    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FK: ACCOUNT_TYPE_ID (ON DELETE CASCADE) / MODULE_CODE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Fabrika produktov — "Тип счёта" jadvallari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ACC_ACCOUNT_TYPES — markaziy jadval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"Тип счёта" ro'yxat oynasidagi ota yozuv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92840" cy="5120640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ACCOUNT_TYPE_ID (PK)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NUMBER(19)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Hisob turi ID — "СЧ-00005" kodi shundan hosil bo'ladi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VARCHAR2(200)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Hisob turining nomi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b="1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MODULE_CODE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7C5C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ACC_R_MODULES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BALANCE_TYPE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VARCHAR2(20)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"Баланс" / "Внебаланс"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Актив, P — Пассив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UNIQUE_CONTRACT_FLAG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Уникал. договор (Y/N)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IS_OPEN_FLAG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IsOpen (Y/N — True/False)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INCODE_TYPE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Credit, D — Debit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IS_VIRTUAL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Virtual hisob belgisi (Y/N)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OBJECT_CODE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VARCHAR2(100)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Bog'liq obyekt kodi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CREATED_ON / CREATED_BY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DATE/VARCHAR2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Audit: yaratilgan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89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MODIFIED_ON / MODIFIED_BY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DATE/VARCHAR2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8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Audit: o'zgartirilgan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Fabrika produktov — "Тип счёта" jadvallari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Dochernie va tarix jadvallari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ACC_ACCOUNT_TYPE_CLIENTS · ACC_ACCOUNT_TYPE_HISTORY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5532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532120" cy="4572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188720"/>
            <a:ext cx="5312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ACC_ACCOUNT_TYPE_CLIENTS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5216" y="1673352"/>
            <a:ext cx="5276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клиента / Коды COA / Валюта, 1:N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" y="2148840"/>
          <a:ext cx="5276088" cy="4023360"/>
        </p:xfrm>
        <a:graphic>
          <a:graphicData uri="http://schemas.openxmlformats.org/drawingml/2006/table">
            <a:tbl>
              <a:tblPr/>
              <a:tblGrid>
                <a:gridCol w="2638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ACCOUNT_TYPE_CLIENT_ID (PK)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Dochernie zapisi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ACCOUNT_TYPE_ID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ACC_ACCOUNT_TYPES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CLIENT_TYPE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— Клиент, B — bank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— Актив, P — Пассив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CODE_COA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Коды COA (Баланс код)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Валюта; "*" — barchasi uchun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CREATED_ON / CREATED_BY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Audit: yaratilgan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MODIFIED_ON / MODIFIED_BY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Audit: o'zgartirilgan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217920" y="1188720"/>
            <a:ext cx="5532120" cy="5120640"/>
          </a:xfrm>
          <a:prstGeom prst="roundRect">
            <a:avLst>
              <a:gd name="adj" fmla="val 1071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7920" y="1188720"/>
            <a:ext cx="5532120" cy="4572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1" name="Text 8"/>
          <p:cNvSpPr/>
          <p:nvPr/>
        </p:nvSpPr>
        <p:spPr>
          <a:xfrm>
            <a:off x="6327648" y="1188720"/>
            <a:ext cx="53126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ACC_ACCOUNT_TYPE_HISTORY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345936" y="1673352"/>
            <a:ext cx="527608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"История изменений" jurnali, 1:N</a:t>
            </a:r>
            <a:endParaRPr lang="en-US" sz="10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45936" y="2148840"/>
          <a:ext cx="5276088" cy="4023360"/>
        </p:xfrm>
        <a:graphic>
          <a:graphicData uri="http://schemas.openxmlformats.org/drawingml/2006/table">
            <a:tbl>
              <a:tblPr/>
              <a:tblGrid>
                <a:gridCol w="26380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80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Ustun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Izoh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HISTORY_ID (PK)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Tarix yozuvi ID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ACCOUNT_TYPE_ID (FK)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 ACC_ACCOUNT_TYPES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ACTION_CODE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/ UPDATE / DELETE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MODIFIED_ON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O'zgarish sanasi/vaqti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MODIFIED_BY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O'zgartirgan foydalanuvchi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BEFORE_SNAPSHOT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Oldingi holat (JSON, CLOB)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AFTER_SNAPSHOT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Keyingi holat (JSON, CLOB)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Fabrika produktov — "Тип счёта" jadvallari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Jadvallar orasidagi bog'lanishlar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FK lar ACC_ACCOUNT_TYPES.ACCOUNT_TYPE_ID yoki spravochnik kodlariga ishora qiladi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92840" cy="3017520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Bosh jadval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Bog'liq jadval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Kardinallik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ACC_R_MODULES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ACC_ACCOUNT_TYPES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MODULE_CODE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ACC_ACCOUNT_TYPES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ACC_ACCOUNT_TYPE_CLIENTS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ACCOUNT_TYPE_ID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ACC_ACCOUNT_TYPES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ACC_ACCOUNT_TYPE_HISTORY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ACCOUNT_TYPE_ID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ACC_R_CLASS_CATALOG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ACC_R_CLASS_CATALOG_MODULES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CATALOG_ID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ACC_R_MODULES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ACC_R_CLASS_CATALOG_MODULES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MODULE_CODE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1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526280"/>
            <a:ext cx="112928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1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4663440"/>
            <a:ext cx="109728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Izoh:  </a:t>
            </a: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ACC_ACCOUNT_TYPES o'chirilganda ACC_ACCOUNT_TYPE_CLIENTS va ACC_ACCOUNT_TYPE_HISTORY yozuvlari ON DELETE CASCADE bilan avtomatik o'chadi. </a:t>
            </a:r>
            <a:r>
              <a:rPr lang="en-US" sz="1150" b="1" dirty="0">
                <a:solidFill>
                  <a:srgbClr val="162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ACC_ACCOUNT_TYPE_CLIENTS</a:t>
            </a:r>
            <a:r>
              <a:rPr lang="en-US" sz="1150" dirty="0">
                <a:solidFill>
                  <a:srgbClr val="16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jadvalida (ACCOUNT_TYPE_ID, CODE_COA) bo'yicha UNIQUE cheklov bor — bitta hisob turi ichida QA/COA kodi takrorlanmaydi. Spravochnik (ACC_R_*) jadvallari CASCADE bilan bog'lanmagan.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CoreBank · Fabrika produktov — "Тип счёта" jadvallari</a:t>
            </a:r>
            <a:endParaRPr lang="en-US" sz="900" dirty="0"/>
          </a:p>
        </p:txBody>
      </p:sp>
      <p:sp>
        <p:nvSpPr>
          <p:cNvPr id="4" name="Text 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Xulosa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4864" cy="8229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ta jadval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 spravochnik (ACC_R_) + 3 ta asosiy jadval (ACC_) — har bir ekran oynasi/blokka mos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2359152"/>
            <a:ext cx="54864" cy="822960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59152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Markazlashgan bog'lanish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ACC_ACCOUNT_TYPES orqali dochernie zapisi va tarix jurnali biriktirilgan (1:N)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3346704"/>
            <a:ext cx="54864" cy="822960"/>
          </a:xfrm>
          <a:prstGeom prst="rect">
            <a:avLst/>
          </a:prstGeom>
          <a:solidFill>
            <a:srgbClr val="7C5CB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346704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N:N normalizatsiya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3712464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"Обычно используется в модулях" ro'yxati ACC_R_CLASS_CATALOG_MODULES ko'prik jadvaliga chiqarildi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54864" cy="82296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334256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va tarix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14400" y="4700016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CREATED_ON/BY, MODIFIED_ON/BY ustunlari + ACC_ACCOUNT_TYPE_HISTORY orqali before/after JSON jurnali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321808"/>
            <a:ext cx="54864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5321808"/>
            <a:ext cx="9875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Standart nomlash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14400" y="5687568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Barcha cheklovlar ALTER TABLE orqali, &lt;JADVAL&gt;_PK/_F#/_U#/_C#/_I# formatida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Fayl: account_type_tables.sql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1289</Words>
  <Application>Microsoft Office PowerPoint</Application>
  <PresentationFormat>Широкоэкранный</PresentationFormat>
  <Paragraphs>197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Latif X. Xudayberdiev</cp:lastModifiedBy>
  <cp:revision>2</cp:revision>
  <dcterms:created xsi:type="dcterms:W3CDTF">2026-07-29T05:51:54Z</dcterms:created>
  <dcterms:modified xsi:type="dcterms:W3CDTF">2026-07-29T06:01:39Z</dcterms:modified>
</cp:coreProperties>
</file>